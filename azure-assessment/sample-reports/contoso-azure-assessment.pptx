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109728" cy="2194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EC5F4"/>
                </a:solidFill>
                <a:latin typeface="Calibri"/>
              </a:rPr>
              <a:t>AZURE ENVIRONMENT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Contoso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DE2FB"/>
                </a:solidFill>
                <a:latin typeface="Calibri"/>
              </a:rPr>
              <a:t>Inventory, Well-Architected findings and remediation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DE2FB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2140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21408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Scope &amp; methodology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79776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79776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Inventory overview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38144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38144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Assessment scorecard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96512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Key findings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54879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75487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54879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Remediation roadmap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41324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13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413248"/>
            <a:ext cx="7315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0B0B0B"/>
                </a:solidFill>
                <a:latin typeface="Calibri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Overall posture score 75/100 — Fair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133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Subscriptions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Regions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199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AB219"/>
                </a:solidFill>
                <a:latin typeface="Calibri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Posture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D03B3B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High findings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463040"/>
            <a:ext cx="1737360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572768"/>
            <a:ext cx="1737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0F3B68"/>
                </a:solidFill>
                <a:latin typeface="Calibri"/>
              </a:rPr>
              <a:t>74%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194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Calibri"/>
              </a:rPr>
              <a:t>Tag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110642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133 resources were assessed across 3 subscription(s), 19 resource groups and 4 region(s).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106 finding(s) were raised: 17 high, 73 medium and 16 low severity, affecting 78 resources.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Security is the weakest area (score 65/100); Governance is the strongest (84/100).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74% of resources carry all required tags (environment, owner, costCenter).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B0B0B"/>
                </a:solidFill>
                <a:latin typeface="Calibri"/>
              </a:rPr>
              <a:t>•  Priority high-severity issues: Storage account permits HTTP (4); Storage account allows anonymous blob access (4); VM stopped but not deallocated (4).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Scope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Based on the inventory export supplied by Contoso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Every resource evaluated against rules aligned to the Azure Well-Architected Framework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Pillars: Security, Reliability, Cost Optimization, Operational Excellence, Governance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Scores = severity-weighted pass rate (High 5 · Medium 3 · Low 1)</a:t>
            </a:r>
          </a:p>
          <a:p>
            <a:pPr algn="l"/>
            <a:r>
              <a:rPr sz="1500" b="0">
                <a:solidFill>
                  <a:srgbClr val="0B0B0B"/>
                </a:solidFill>
                <a:latin typeface="Calibri"/>
              </a:rPr>
              <a:t>•  Rating: Good ≥ 80 · Fair 60–79 · Poor &lt; 60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463040"/>
          <a:ext cx="53949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1667"/>
                <a:gridCol w="132329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Subscription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Resources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Contoso-Production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Contoso-NonProduction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52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Contoso-Connectivity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Inventory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133 resources · 19 resource groups</a:t>
            </a:r>
          </a:p>
        </p:txBody>
      </p:sp>
      <p:pic>
        <p:nvPicPr>
          <p:cNvPr id="5" name="Picture 4" descr="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577840" cy="3218564"/>
          </a:xfrm>
          <a:prstGeom prst="rect">
            <a:avLst/>
          </a:prstGeom>
        </p:spPr>
      </p:pic>
      <p:pic>
        <p:nvPicPr>
          <p:cNvPr id="6" name="Picture 5" descr="by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2156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Assessment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Severity-weighted pass rate per pillar</a:t>
            </a:r>
          </a:p>
        </p:txBody>
      </p:sp>
      <p:pic>
        <p:nvPicPr>
          <p:cNvPr id="5" name="Picture 4" descr="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218138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554480"/>
          <a:ext cx="53035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060"/>
                <a:gridCol w="688768"/>
                <a:gridCol w="757645"/>
                <a:gridCol w="551015"/>
                <a:gridCol w="551015"/>
                <a:gridCol w="551015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Rating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Operational Excellence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0B0B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Findings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106 findings across 78 resources</a:t>
            </a:r>
          </a:p>
        </p:txBody>
      </p:sp>
      <p:pic>
        <p:nvPicPr>
          <p:cNvPr id="5" name="Picture 4" descr="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2060115"/>
          </a:xfrm>
          <a:prstGeom prst="rect">
            <a:avLst/>
          </a:prstGeom>
        </p:spPr>
      </p:pic>
      <p:pic>
        <p:nvPicPr>
          <p:cNvPr id="6" name="Picture 5" descr="pillar_fi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760720" cy="28645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Ranked by severity, then number of resources affected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78"/>
                <a:gridCol w="5433332"/>
                <a:gridCol w="1185454"/>
                <a:gridCol w="2370908"/>
                <a:gridCol w="108666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Affected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permits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allows anonymous blob access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VM stopped but not deallocated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Web app does not enforce HTTPS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NSG exposes management ports to the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GOV-003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Classic (ASM) resource in use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03B3B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Required tags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REL-001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VM has no zone or availability set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Key findings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Ranked by severity, then number of resources affected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878"/>
                <a:gridCol w="5433332"/>
                <a:gridCol w="1185454"/>
                <a:gridCol w="2370908"/>
                <a:gridCol w="108666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Pillar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Affected</a:t>
                      </a:r>
                    </a:p>
                  </a:txBody>
                  <a:tcPr>
                    <a:solidFill>
                      <a:srgbClr val="0F3B6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Unattached managed disk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GOV-002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Resource outside approved regions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Governance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accepts TLS &lt; 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COST-005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Empty App Service plan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Cost Optimization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Key Vault purge protection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SEC-005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SQL server reachable from public networks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C835A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OPS-001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Previous-generation VM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67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Operational Excellence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REL-003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Storage account uses locally redundant replication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9A6700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Reliability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0B0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Remediation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Calibri"/>
              </a:rPr>
              <a:t>Sequenced by risk and effort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611880" cy="548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337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0-30 days (quick wins &amp; critical risk)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3611880" cy="4297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337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permits HTTP (4)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allows anonymous blob access (4)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VM stopped but not deallocated (4)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Web app does not enforce HTTPS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NSG exposes management ports to the Internet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Classic (ASM) resource in use (1)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Unattached managed disk (10)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Empty App Service plan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Unassociated public IP address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…and 1 more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11880" cy="54864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17320"/>
            <a:ext cx="3337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30-60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65960"/>
            <a:ext cx="3611880" cy="4297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337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Required tags missing (34)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VM has no zone or availability set (15)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Resource outside approved regions (8)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accepts TLS &lt; 1.2 (2)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Key Vault purge protection disabled (1)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SQL server reachable from public networks (1)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3611880" cy="548640"/>
          </a:xfrm>
          <a:prstGeom prst="rect">
            <a:avLst/>
          </a:prstGeom>
          <a:solidFill>
            <a:srgbClr val="0F3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20"/>
            <a:ext cx="3337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60-90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611880" cy="4297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103120"/>
            <a:ext cx="33375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Previous-generation VM size (5)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Storage account uses locally redundant replication (3)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SQL database not zone redundant (3)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•  Log Analytics retention below target (2)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3B68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1.  Remediate high-severity security exposures (public access, HTTP, open management ports)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2.  Reclaim idle spend: orphaned disks, unused public IPs, stopped VMs and empty plans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3.  Enforce tagging and allowed regions through Azure Policy at management-group scope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4.  Design zone-redundant patterns for production workloads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B0B0B"/>
                </a:solidFill>
                <a:latin typeface="Calibri"/>
              </a:rPr>
              <a:t>5.  Re-run this assessment monthly to track posture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Calibri"/>
              </a:rPr>
              <a:t>Contoso · Azure Environment Assessment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2514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